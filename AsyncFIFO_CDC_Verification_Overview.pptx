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C2034"/>
                </a:solidFill>
                <a:latin typeface="Aptos"/>
              </a:rPr>
              <a:t>Asynchronous FIFO CDC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>
                <a:solidFill>
                  <a:srgbClr val="586069"/>
                </a:solidFill>
                <a:latin typeface="Aptos"/>
              </a:rPr>
              <a:t>SystemVerilog/UVM verification study with farm-backed evidence</a:t>
            </a:r>
          </a:p>
        </p:txBody>
      </p:sp>
      <p:pic>
        <p:nvPicPr>
          <p:cNvPr id="5" name="Picture 4" descr="flag_debug_wave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927" y="1828800"/>
            <a:ext cx="9591104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486400"/>
            <a:ext cx="2286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2563A6"/>
                </a:solidFill>
                <a:latin typeface="Aptos"/>
              </a:rPr>
              <a:t>Post_M5/UVM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canonical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5486400"/>
            <a:ext cx="20116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2A7D4A"/>
                </a:solidFill>
                <a:latin typeface="Aptos"/>
              </a:rPr>
              <a:t>0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UVM errors/fatals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5486400"/>
            <a:ext cx="20116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2A7D4A"/>
                </a:solidFill>
                <a:latin typeface="Aptos"/>
              </a:rPr>
              <a:t>100%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coverage goals hit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5486400"/>
            <a:ext cx="20116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8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BE8922"/>
                </a:solidFill>
                <a:latin typeface="Aptos"/>
              </a:rPr>
              <a:t>Questa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farm-verified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201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86069"/>
                </a:solidFill>
                <a:latin typeface="Aptos"/>
              </a:rPr>
              <a:t>Asynchronous FIFO CDC Design and Verification Study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C2034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86069"/>
                </a:solidFill>
                <a:latin typeface="Aptos"/>
              </a:rPr>
              <a:t>Safe data transfer across unrelated write and read clocks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201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86069"/>
                </a:solidFill>
                <a:latin typeface="Aptos"/>
              </a:rPr>
              <a:t>Asynchronous FIFO CDC Design and Verification Study |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103120" cy="114300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Write domain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80 MHz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12.5 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2212848"/>
            <a:ext cx="1143000" cy="320040"/>
          </a:xfrm>
          <a:prstGeom prst="rightArrow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2377440" cy="1417320"/>
          </a:xfrm>
          <a:prstGeom prst="roundRect">
            <a:avLst/>
          </a:prstGeom>
          <a:solidFill>
            <a:srgbClr val="FCF5E0"/>
          </a:solidFill>
          <a:ln w="15240">
            <a:solidFill>
              <a:srgbClr val="BE8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Async FIFO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64 entries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8-bit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67728" y="2212848"/>
            <a:ext cx="1143000" cy="320040"/>
          </a:xfrm>
          <a:prstGeom prst="rightArrow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2103120" cy="1143000"/>
          </a:xfrm>
          <a:prstGeom prst="roundRect">
            <a:avLst/>
          </a:prstGeom>
          <a:solidFill>
            <a:srgbClr val="E7F5EC"/>
          </a:solidFill>
          <a:ln w="1524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Read domain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50 MHz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20 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328"/>
                </a:solidFill>
                <a:latin typeface="Aptos"/>
              </a:defRPr>
            </a:pPr>
            <a:r>
              <a:t>Preserve FIFO ordering while the two clocks advance independently.</a:t>
            </a:r>
          </a:p>
          <a:p>
            <a:pPr>
              <a:spcAft>
                <a:spcPts val="800"/>
              </a:spcAft>
              <a:defRPr sz="1500">
                <a:solidFill>
                  <a:srgbClr val="1F2328"/>
                </a:solidFill>
                <a:latin typeface="Aptos"/>
              </a:defRPr>
            </a:pPr>
            <a:r>
              <a:t>Prevent overflow writes and underflow reads without sharing unsafe dual-clock state.</a:t>
            </a:r>
          </a:p>
          <a:p>
            <a:pPr>
              <a:spcAft>
                <a:spcPts val="800"/>
              </a:spcAft>
              <a:defRPr sz="1500">
                <a:solidFill>
                  <a:srgbClr val="1F2328"/>
                </a:solidFill>
                <a:latin typeface="Aptos"/>
              </a:defRPr>
            </a:pPr>
            <a:r>
              <a:t>Generate full, empty, half-full, and half-empty flags with threshold-accurate timing.</a:t>
            </a:r>
          </a:p>
          <a:p>
            <a:pPr>
              <a:spcAft>
                <a:spcPts val="800"/>
              </a:spcAft>
              <a:defRPr sz="1500">
                <a:solidFill>
                  <a:srgbClr val="1F2328"/>
                </a:solidFill>
                <a:latin typeface="Aptos"/>
              </a:defRPr>
            </a:pPr>
            <a:r>
              <a:t>Capture proof in simulator transcripts and reviewable waveform artifacts.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C2034"/>
                </a:solidFill>
                <a:latin typeface="Aptos"/>
              </a:rPr>
              <a:t>Design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86069"/>
                </a:solidFill>
                <a:latin typeface="Aptos"/>
              </a:rPr>
              <a:t>Implementation and verification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201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86069"/>
                </a:solidFill>
                <a:latin typeface="Aptos"/>
              </a:rPr>
              <a:t>Asynchronous FIFO CDC Design and Verification Study |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606040" cy="13258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/>
          <a:lstStyle/>
          <a:p>
            <a:pPr algn="ctr"/>
            <a:r>
              <a:rPr sz="1500" b="1">
                <a:solidFill>
                  <a:srgbClr val="0C2034"/>
                </a:solidFill>
                <a:latin typeface="Aptos"/>
              </a:rPr>
              <a:t>CDC correctness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F2328"/>
                </a:solidFill>
                <a:latin typeface="Aptos"/>
              </a:rPr>
              <a:t>Synchronize pointers safely across unrelated domains.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17320"/>
            <a:ext cx="2606040" cy="1325880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/>
          <a:lstStyle/>
          <a:p>
            <a:pPr algn="ctr"/>
            <a:r>
              <a:rPr sz="1500" b="1">
                <a:solidFill>
                  <a:srgbClr val="0C2034"/>
                </a:solidFill>
                <a:latin typeface="Aptos"/>
              </a:rPr>
              <a:t>Data integrity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F2328"/>
                </a:solidFill>
                <a:latin typeface="Aptos"/>
              </a:rPr>
              <a:t>Maintain ordering through wraparound, backpressure, and resets.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417320"/>
            <a:ext cx="2606040" cy="1325880"/>
          </a:xfrm>
          <a:prstGeom prst="roundRect">
            <a:avLst/>
          </a:prstGeom>
          <a:solidFill>
            <a:srgbClr val="FCF5E0"/>
          </a:solidFill>
          <a:ln w="12700">
            <a:solidFill>
              <a:srgbClr val="BE8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/>
          <a:lstStyle/>
          <a:p>
            <a:pPr algn="ctr"/>
            <a:r>
              <a:rPr sz="1500" b="1">
                <a:solidFill>
                  <a:srgbClr val="0C2034"/>
                </a:solidFill>
                <a:latin typeface="Aptos"/>
              </a:rPr>
              <a:t>Flag accuracy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F2328"/>
                </a:solidFill>
                <a:latin typeface="Aptos"/>
              </a:rPr>
              <a:t>Assert full, empty, half-full, and half-empty at the intended edges.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417320"/>
            <a:ext cx="2148840" cy="1325880"/>
          </a:xfrm>
          <a:prstGeom prst="roundRect">
            <a:avLst/>
          </a:prstGeom>
          <a:solidFill>
            <a:srgbClr val="F1EEF9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/>
          <a:lstStyle/>
          <a:p>
            <a:pPr algn="ctr"/>
            <a:r>
              <a:rPr sz="1500" b="1">
                <a:solidFill>
                  <a:srgbClr val="0C2034"/>
                </a:solidFill>
                <a:latin typeface="Aptos"/>
              </a:rPr>
              <a:t>Evidence quality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F2328"/>
                </a:solidFill>
                <a:latin typeface="Aptos"/>
              </a:rPr>
              <a:t>Commit farm transcripts, coverage reports, and readable waveform images.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C2034"/>
                </a:solidFill>
                <a:latin typeface="Aptos"/>
              </a:rPr>
              <a:t>Primary implementation principle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86200"/>
            <a:ext cx="51206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Use local binary pointers for arithmetic.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Send only Gray-coded pointers across clock boundaries.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Place both synchronizer flops in the destination domain.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Compute occupancy locally from the next pointer and synchronized remote pointer.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29000"/>
            <a:ext cx="4937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C2034"/>
                </a:solidFill>
                <a:latin typeface="Aptos"/>
              </a:rPr>
              <a:t>Verification principle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86200"/>
            <a:ext cx="50292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Drive before the DUT sampling edge.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Monitor accepted transfers, not raw attempts.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Check data with an independent queue reference model.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Use directed tests for exact flag thresholds.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C2034"/>
                </a:solidFill>
                <a:latin typeface="Aptos"/>
              </a:rPr>
              <a:t>DUT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86069"/>
                </a:solidFill>
                <a:latin typeface="Aptos"/>
              </a:rPr>
              <a:t>Five-block async FIFO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201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86069"/>
                </a:solidFill>
                <a:latin typeface="Aptos"/>
              </a:rPr>
              <a:t>Asynchronous FIFO CDC Design and Verification Study |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331720" cy="9601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write_pointer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binary -&gt; Gray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wFull, wHalfFull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19659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sync_w2r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2 flops in rclk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417320"/>
            <a:ext cx="2331720" cy="960120"/>
          </a:xfrm>
          <a:prstGeom prst="roundRect">
            <a:avLst/>
          </a:prstGeom>
          <a:solidFill>
            <a:srgbClr val="E7F5EC"/>
          </a:solidFill>
          <a:ln w="1524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read_pointer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binary -&gt; Gray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rEmpty, rHalfEmpty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880360"/>
            <a:ext cx="2743200" cy="960120"/>
          </a:xfrm>
          <a:prstGeom prst="roundRect">
            <a:avLst/>
          </a:prstGeom>
          <a:solidFill>
            <a:srgbClr val="FCF5E0"/>
          </a:solidFill>
          <a:ln w="15240">
            <a:solidFill>
              <a:srgbClr val="BE8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fifo_memory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64 x 8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343400"/>
            <a:ext cx="19659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sync_r2w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2 flops in wclk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40" y="1719072"/>
            <a:ext cx="320040" cy="201168"/>
          </a:xfrm>
          <a:prstGeom prst="rightArrow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413248" y="1719072"/>
            <a:ext cx="320040" cy="201168"/>
          </a:xfrm>
          <a:prstGeom prst="rightArrow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035040" y="4069080"/>
            <a:ext cx="320040" cy="201168"/>
          </a:xfrm>
          <a:prstGeom prst="rightArrow">
            <a:avLst/>
          </a:prstGeom>
          <a:solidFill>
            <a:srgbClr val="2A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063240" y="4645152"/>
            <a:ext cx="320040" cy="201168"/>
          </a:xfrm>
          <a:prstGeom prst="rightArrow">
            <a:avLst/>
          </a:prstGeom>
          <a:solidFill>
            <a:srgbClr val="2A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463040"/>
            <a:ext cx="27432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Memory access is gated by local full/empty protection.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Pointer width is one bit wider than the RAM address.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Gray-coded pointers are the only cross-domain state.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Each flag is registered in the domain that consumes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C2034"/>
                </a:solidFill>
                <a:latin typeface="Aptos"/>
              </a:rPr>
              <a:t>CDC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86069"/>
                </a:solidFill>
                <a:latin typeface="Aptos"/>
              </a:rPr>
              <a:t>Why the final RTL avoids common async FIFO traps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201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86069"/>
                </a:solidFill>
                <a:latin typeface="Aptos"/>
              </a:rPr>
              <a:t>Asynchronous FIFO CDC Design and Verification Study |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1207008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/>
          <a:lstStyle/>
          <a:p>
            <a:pPr algn="ctr"/>
            <a:r>
              <a:rPr sz="1500" b="1">
                <a:solidFill>
                  <a:srgbClr val="0C2034"/>
                </a:solidFill>
                <a:latin typeface="Aptos"/>
              </a:rPr>
              <a:t>Binary locally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F2328"/>
                </a:solidFill>
                <a:latin typeface="Aptos"/>
              </a:rPr>
              <a:t>Increment, address, and occupancy math remain simple within one clock domain.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1207008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/>
          <a:lstStyle/>
          <a:p>
            <a:pPr algn="ctr"/>
            <a:r>
              <a:rPr sz="1500" b="1">
                <a:solidFill>
                  <a:srgbClr val="0C2034"/>
                </a:solidFill>
                <a:latin typeface="Aptos"/>
              </a:rPr>
              <a:t>Gray across domains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F2328"/>
                </a:solidFill>
                <a:latin typeface="Aptos"/>
              </a:rPr>
              <a:t>Only one pointer bit changes per increment before synchronization.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417320"/>
            <a:ext cx="3017520" cy="1207008"/>
          </a:xfrm>
          <a:prstGeom prst="roundRect">
            <a:avLst/>
          </a:prstGeom>
          <a:solidFill>
            <a:srgbClr val="FCF5E0"/>
          </a:solidFill>
          <a:ln w="12700">
            <a:solidFill>
              <a:srgbClr val="BE8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/>
          <a:lstStyle/>
          <a:p>
            <a:pPr algn="ctr"/>
            <a:r>
              <a:rPr sz="1500" b="1">
                <a:solidFill>
                  <a:srgbClr val="0C2034"/>
                </a:solidFill>
                <a:latin typeface="Aptos"/>
              </a:rPr>
              <a:t>Extra MSB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F2328"/>
                </a:solidFill>
                <a:latin typeface="Aptos"/>
              </a:rPr>
              <a:t>Same address can mean empty or full depending on pointer wrap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C2034"/>
                </a:solidFill>
                <a:latin typeface="Aptos"/>
              </a:rPr>
              <a:t>Rejected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94760"/>
            <a:ext cx="3108960" cy="1051560"/>
          </a:xfrm>
          <a:prstGeom prst="roundRect">
            <a:avLst/>
          </a:prstGeom>
          <a:solidFill>
            <a:srgbClr val="FDEDED"/>
          </a:solidFill>
          <a:ln w="1524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single fifo_count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written by wclk and rclk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C2034"/>
                </a:solidFill>
                <a:latin typeface="Aptos"/>
              </a:rPr>
              <a:t>Final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94760"/>
            <a:ext cx="3291840" cy="105156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next local pointer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minus synced remote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4612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C2034"/>
                </a:solidFill>
                <a:latin typeface="Aptos"/>
              </a:rPr>
              <a:t>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794760"/>
            <a:ext cx="2788920" cy="1051560"/>
          </a:xfrm>
          <a:prstGeom prst="roundRect">
            <a:avLst/>
          </a:prstGeom>
          <a:solidFill>
            <a:srgbClr val="E7F5EC"/>
          </a:solidFill>
          <a:ln w="1524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CDC-safe occupancy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per consuming domain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C2034"/>
                </a:solidFill>
                <a:latin typeface="Aptos"/>
              </a:rPr>
              <a:t>Flag Timing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86069"/>
                </a:solidFill>
                <a:latin typeface="Aptos"/>
              </a:rPr>
              <a:t>Write-side half-full and full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201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86069"/>
                </a:solidFill>
                <a:latin typeface="Aptos"/>
              </a:rPr>
              <a:t>Asynchronous FIFO CDC Design and Verification Study | 06</a:t>
            </a:r>
          </a:p>
        </p:txBody>
      </p:sp>
      <p:pic>
        <p:nvPicPr>
          <p:cNvPr id="7" name="Picture 6" descr="flag_debug_write_thresh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12432"/>
            <a:ext cx="7726679" cy="2578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58200" y="1508760"/>
            <a:ext cx="301752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Half-full uses `binary_wptr_next`, not the prior registered pointer.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`wHalfFull` asserts when the accepted write reaches 32 entries.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`wFull` asserts when the accepted write reaches 64 entries.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The waveform is generated from the directed farm VCD.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4709160"/>
            <a:ext cx="1234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2563A6"/>
                </a:solidFill>
                <a:latin typeface="Aptos"/>
              </a:rPr>
              <a:t>32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half-full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4709160"/>
            <a:ext cx="1234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2A7D4A"/>
                </a:solidFill>
                <a:latin typeface="Aptos"/>
              </a:rPr>
              <a:t>64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full threshold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C2034"/>
                </a:solidFill>
                <a:latin typeface="Aptos"/>
              </a:rPr>
              <a:t>Read-Side Flag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86069"/>
                </a:solidFill>
                <a:latin typeface="Aptos"/>
              </a:rPr>
              <a:t>Half-empty and empty threshold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201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86069"/>
                </a:solidFill>
                <a:latin typeface="Aptos"/>
              </a:rPr>
              <a:t>Asynchronous FIFO CDC Design and Verification Study | 07</a:t>
            </a:r>
          </a:p>
        </p:txBody>
      </p:sp>
      <p:pic>
        <p:nvPicPr>
          <p:cNvPr id="7" name="Picture 6" descr="flag_debug_read_thresh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12432"/>
            <a:ext cx="7726679" cy="2578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58200" y="1508760"/>
            <a:ext cx="301752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Half-empty uses `binary_rptr_next` for same-edge threshold behavior.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`rHalfEmpty` asserts when occupancy drops to 32 entries.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`rEmpty` asserts when the final accepted read drains the FIFO.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Overflow and underflow attempts are tested without corrupting the scoreboard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4709160"/>
            <a:ext cx="1234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8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BE8922"/>
                </a:solidFill>
                <a:latin typeface="Aptos"/>
              </a:rPr>
              <a:t>32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half-empty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4709160"/>
            <a:ext cx="1234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2A7D4A"/>
                </a:solidFill>
                <a:latin typeface="Aptos"/>
              </a:rPr>
              <a:t>0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empty occupancy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C2034"/>
                </a:solidFill>
                <a:latin typeface="Aptos"/>
              </a:rPr>
              <a:t>UVM Verification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86069"/>
                </a:solidFill>
                <a:latin typeface="Aptos"/>
              </a:rPr>
              <a:t>Independent agents for independent clock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201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86069"/>
                </a:solidFill>
                <a:latin typeface="Aptos"/>
              </a:rPr>
              <a:t>Asynchronous FIFO CDC Design and Verification Study |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194560" cy="731520"/>
          </a:xfrm>
          <a:prstGeom prst="roundRect">
            <a:avLst/>
          </a:prstGeom>
          <a:solidFill>
            <a:srgbClr val="FCF5E0"/>
          </a:solidFill>
          <a:ln w="15240">
            <a:solidFill>
              <a:srgbClr val="BE8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fifo_random_test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or fifo_base_test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17320"/>
            <a:ext cx="164592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fifo_env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788920"/>
            <a:ext cx="2788920" cy="105156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write_agent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sequencer + driver + 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788920"/>
            <a:ext cx="2788920" cy="1051560"/>
          </a:xfrm>
          <a:prstGeom prst="roundRect">
            <a:avLst/>
          </a:prstGeom>
          <a:solidFill>
            <a:srgbClr val="E7F5EC"/>
          </a:solidFill>
          <a:ln w="1524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read_agent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sequencer + driver + monitor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788920"/>
            <a:ext cx="2926080" cy="1051560"/>
          </a:xfrm>
          <a:prstGeom prst="roundRect">
            <a:avLst/>
          </a:prstGeom>
          <a:solidFill>
            <a:srgbClr val="FCF5E0"/>
          </a:solidFill>
          <a:ln w="15240">
            <a:solidFill>
              <a:srgbClr val="BE8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fifo_scoreboard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queue reference model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89504" y="1673352"/>
            <a:ext cx="320040" cy="201168"/>
          </a:xfrm>
          <a:prstGeom prst="rightArrow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3767328" y="4160520"/>
            <a:ext cx="320040" cy="201168"/>
          </a:xfrm>
          <a:prstGeom prst="rightArrow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022592" y="4160520"/>
            <a:ext cx="320040" cy="201168"/>
          </a:xfrm>
          <a:prstGeom prst="rightArrow">
            <a:avLst/>
          </a:prstGeom>
          <a:solidFill>
            <a:srgbClr val="2A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09160"/>
            <a:ext cx="10241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Separate read and write paths reflect the real CDC split.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Drivers produce stable stimulus before the active edge.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Monitors publish only accepted transfers.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The scoreboard checks ordering independently of DUT internals.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C2034"/>
                </a:solidFill>
                <a:latin typeface="Aptos"/>
              </a:rPr>
              <a:t>Scoreboard And Monitor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86069"/>
                </a:solidFill>
                <a:latin typeface="Aptos"/>
              </a:rPr>
              <a:t>Accepted-transfer modeling with reset-aware checking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201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86069"/>
                </a:solidFill>
                <a:latin typeface="Aptos"/>
              </a:rPr>
              <a:t>Asynchronous FIFO CDC Design and Verification Study |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2148840" cy="82296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Write monitor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winc &amp;&amp; !wFull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1773936"/>
            <a:ext cx="502920" cy="228600"/>
          </a:xfrm>
          <a:prstGeom prst="rightArrow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49039" y="1508760"/>
            <a:ext cx="20574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Expected queue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push wData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2148840" cy="822960"/>
          </a:xfrm>
          <a:prstGeom prst="roundRect">
            <a:avLst/>
          </a:prstGeom>
          <a:solidFill>
            <a:srgbClr val="E7F5EC"/>
          </a:solidFill>
          <a:ln w="1524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Read monitor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rinc &amp;&amp; !rEmpty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63240" y="3236976"/>
            <a:ext cx="502920" cy="228600"/>
          </a:xfrm>
          <a:prstGeom prst="rightArrow">
            <a:avLst/>
          </a:prstGeom>
          <a:solidFill>
            <a:srgbClr val="2A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2971800"/>
            <a:ext cx="20574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Compare rData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pop expected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434840"/>
            <a:ext cx="2148840" cy="822960"/>
          </a:xfrm>
          <a:prstGeom prst="roundRect">
            <a:avLst/>
          </a:prstGeom>
          <a:solidFill>
            <a:srgbClr val="FCF5E0"/>
          </a:solidFill>
          <a:ln w="15240">
            <a:solidFill>
              <a:srgbClr val="BE8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Reset monitor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flush queue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63240" y="4700016"/>
            <a:ext cx="502920" cy="228600"/>
          </a:xfrm>
          <a:prstGeom prst="rightArrow">
            <a:avLst/>
          </a:prstGeom>
          <a:solidFill>
            <a:srgbClr val="BE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49039" y="4434840"/>
            <a:ext cx="20574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8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C2034"/>
                </a:solidFill>
                <a:latin typeface="Aptos"/>
              </a:rPr>
              <a:t>Aligned model</a:t>
            </a:r>
            <a:br/>
            <a:r>
              <a:rPr sz="1200" b="1">
                <a:solidFill>
                  <a:srgbClr val="0C2034"/>
                </a:solidFill>
                <a:latin typeface="Aptos"/>
              </a:rPr>
              <a:t>after reset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41732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C2034"/>
                </a:solidFill>
                <a:latin typeface="Aptos"/>
              </a:rPr>
              <a:t>Farm scoreboard summary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83680" y="1874519"/>
          <a:ext cx="4343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</a:tblGrid>
              <a:tr h="47026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54864" marR="54864" marT="36576" marB="36576">
                    <a:solidFill>
                      <a:srgbClr val="0C2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54864" marR="54864" marT="36576" marB="36576">
                    <a:solidFill>
                      <a:srgbClr val="0C203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Writes observed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659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Reads observed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596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Reset flushes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Residual queue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Mismatches / errors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Verdict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C2034"/>
                </a:solidFill>
                <a:latin typeface="Aptos"/>
              </a:rPr>
              <a:t>Coverage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86069"/>
                </a:solidFill>
                <a:latin typeface="Aptos"/>
              </a:rPr>
              <a:t>DUT-scoped code coverage plus functional covergroups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201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86069"/>
                </a:solidFill>
                <a:latin typeface="Aptos"/>
              </a:rPr>
              <a:t>Asynchronous FIFO CDC Design and Verification Study | 10</a:t>
            </a:r>
          </a:p>
        </p:txBody>
      </p:sp>
      <p:pic>
        <p:nvPicPr>
          <p:cNvPr id="7" name="Picture 6" descr="coverag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67223"/>
            <a:ext cx="6949440" cy="19315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508760"/>
            <a:ext cx="34290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DUT-focused coverage avoids inflating results with testbench code.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Code coverage: statements, branches, expressions, conditions.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Functional coverage: flags, data patterns, reset, bursts, idle cycles, throughput.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Final result: 100% DUT-filtered code coverage and 100% covergroup coverage.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709160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2A7D4A"/>
                </a:solidFill>
                <a:latin typeface="Aptos"/>
              </a:rPr>
              <a:t>100%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DUT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4709160"/>
            <a:ext cx="13716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2563A6"/>
                </a:solidFill>
                <a:latin typeface="Aptos"/>
              </a:rPr>
              <a:t>9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covergroups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C2034"/>
                </a:solidFill>
                <a:latin typeface="Aptos"/>
              </a:rPr>
              <a:t>Bug Injection And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86069"/>
                </a:solidFill>
                <a:latin typeface="Aptos"/>
              </a:rPr>
              <a:t>Negative testing confirms the checker can fail for real defects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201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86069"/>
                </a:solidFill>
                <a:latin typeface="Aptos"/>
              </a:rPr>
              <a:t>Asynchronous FIFO CDC Design and Verification Study |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7899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Macro</a:t>
                      </a:r>
                    </a:p>
                  </a:txBody>
                  <a:tcPr marL="54864" marR="54864" marT="36576" marB="36576">
                    <a:solidFill>
                      <a:srgbClr val="0C2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Injected defect</a:t>
                      </a:r>
                    </a:p>
                  </a:txBody>
                  <a:tcPr marL="54864" marR="54864" marT="36576" marB="36576">
                    <a:solidFill>
                      <a:srgbClr val="0C2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Verification purpose</a:t>
                      </a:r>
                    </a:p>
                  </a:txBody>
                  <a:tcPr marL="54864" marR="54864" marT="36576" marB="36576">
                    <a:solidFill>
                      <a:srgbClr val="0C20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WDATA_CORRUPTION_BUG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Corrupt write data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Scoreboard catches data mismatch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SYNC_BUG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Remove second sync flop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Exercise CDC assumptions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RPTR_BUG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Use binary read pointer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Test Gray encoding checks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WPTR_FULLFLAG_BUG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Naive full equality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328"/>
                          </a:solidFill>
                          <a:latin typeface="Aptos"/>
                        </a:rPr>
                        <a:t>Validate wrap-aware full logic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3977639"/>
            <a:ext cx="10058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328"/>
                </a:solidFill>
                <a:latin typeface="Aptos"/>
              </a:defRPr>
            </a:pPr>
            <a:r>
              <a:t>Default build keeps all defect macros disabled.</a:t>
            </a:r>
          </a:p>
          <a:p>
            <a:pPr>
              <a:spcAft>
                <a:spcPts val="800"/>
              </a:spcAft>
              <a:defRPr sz="1500">
                <a:solidFill>
                  <a:srgbClr val="1F2328"/>
                </a:solidFill>
                <a:latin typeface="Aptos"/>
              </a:defRPr>
            </a:pPr>
            <a:r>
              <a:t>Each macro is intended to be enabled independently.</a:t>
            </a:r>
          </a:p>
          <a:p>
            <a:pPr>
              <a:spcAft>
                <a:spcPts val="800"/>
              </a:spcAft>
              <a:defRPr sz="1500">
                <a:solidFill>
                  <a:srgbClr val="1F2328"/>
                </a:solidFill>
                <a:latin typeface="Aptos"/>
              </a:defRPr>
            </a:pPr>
            <a:r>
              <a:t>The goal is not only to pass the nominal design, but to prove that meaningful bugs are detectable.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C2034"/>
                </a:solidFill>
                <a:latin typeface="Aptos"/>
              </a:rPr>
              <a:t>Final Results And Review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86069"/>
                </a:solidFill>
                <a:latin typeface="Aptos"/>
              </a:rPr>
              <a:t>Concise evidence for project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27432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201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86069"/>
                </a:solidFill>
                <a:latin typeface="Aptos"/>
              </a:rPr>
              <a:t>Asynchronous FIFO CDC Design and Verification Study |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331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2A7D4A"/>
                </a:solidFill>
                <a:latin typeface="Aptos"/>
              </a:rPr>
              <a:t>0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UVM warnings/errors/fatals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331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2A7D4A"/>
                </a:solidFill>
                <a:latin typeface="Aptos"/>
              </a:rPr>
              <a:t>100%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DUT-focused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417320"/>
            <a:ext cx="2331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2A7D4A"/>
                </a:solidFill>
                <a:latin typeface="Aptos"/>
              </a:rPr>
              <a:t>100%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covergroup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417320"/>
            <a:ext cx="2331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100" b="1">
                <a:solidFill>
                  <a:srgbClr val="2563A6"/>
                </a:solidFill>
                <a:latin typeface="Aptos"/>
              </a:rPr>
              <a:t>PASS</a:t>
            </a:r>
          </a:p>
          <a:p>
            <a:pPr algn="l"/>
            <a:r>
              <a:rPr sz="1000" b="0">
                <a:solidFill>
                  <a:srgbClr val="586069"/>
                </a:solidFill>
                <a:latin typeface="Aptos"/>
              </a:rPr>
              <a:t>directed flag thresholds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C2034"/>
                </a:solidFill>
                <a:latin typeface="Aptos"/>
              </a:rPr>
              <a:t>Recommended review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66344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Post_M5/UVM/async_fifo.sv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Post_M5/UVM/async_fifo_scoreboard.sv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Post_M5/UVM/async_fifo_coverage.sv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Post_M5/UVM/MANIFEST.txt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9260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0C2034"/>
                </a:solidFill>
                <a:latin typeface="Aptos"/>
              </a:rPr>
              <a:t>Closing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429000"/>
            <a:ext cx="53035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CDC-safe FIFO RTL with Gray-coded pointer synchronization.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UVM environment with independent agents and reset-aware checking.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Directed waveform evidence for threshold-accurate flags.</a:t>
            </a:r>
          </a:p>
          <a:p>
            <a:pPr>
              <a:spcAft>
                <a:spcPts val="800"/>
              </a:spcAft>
              <a:defRPr sz="1400">
                <a:solidFill>
                  <a:srgbClr val="1F2328"/>
                </a:solidFill>
                <a:latin typeface="Aptos"/>
              </a:defRPr>
            </a:pPr>
            <a:r>
              <a:t>Farm-backed transcripts and coverage artifacts committed with the repo.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